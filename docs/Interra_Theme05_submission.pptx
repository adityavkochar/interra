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03b19abc704987" /><Relationship Type="http://schemas.openxmlformats.org/officeDocument/2006/relationships/extended-properties" Target="/docProps/app.xml" Id="R4fbae5cc1fec4bd8" /><Relationship Type="http://schemas.openxmlformats.org/officeDocument/2006/relationships/officeDocument" Target="/ppt/presentation.xml" Id="R46ccb1b024d546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f3a7140a2c4db1"/>
  </p:sldMasterIdLst>
  <p:notesMasterIdLst>
    <p:notesMasterId xmlns:r="http://schemas.openxmlformats.org/officeDocument/2006/relationships" r:id="R79700413695442d1"/>
  </p:notesMasterIdLst>
  <p:sldIdLst>
    <p:sldId xmlns:r="http://schemas.openxmlformats.org/officeDocument/2006/relationships" id="256" r:id="R1f2f5c9053094bbe"/>
    <p:sldId xmlns:r="http://schemas.openxmlformats.org/officeDocument/2006/relationships" id="257" r:id="Rbaee2f06d4d849e8"/>
    <p:sldId xmlns:r="http://schemas.openxmlformats.org/officeDocument/2006/relationships" id="258" r:id="Rdd80354d15e74f83"/>
    <p:sldId xmlns:r="http://schemas.openxmlformats.org/officeDocument/2006/relationships" id="259" r:id="R50bb7717cd0448be"/>
    <p:sldId xmlns:r="http://schemas.openxmlformats.org/officeDocument/2006/relationships" id="260" r:id="R5a75aad640974206"/>
    <p:sldId xmlns:r="http://schemas.openxmlformats.org/officeDocument/2006/relationships" id="261" r:id="Rbe353e8807bd4548"/>
    <p:sldId xmlns:r="http://schemas.openxmlformats.org/officeDocument/2006/relationships" id="262" r:id="Rf9af1c13ec52426e"/>
    <p:sldId xmlns:r="http://schemas.openxmlformats.org/officeDocument/2006/relationships" id="263" r:id="Rb53e46be9e6b44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ba6a4a994e487f" /><Relationship Type="http://schemas.openxmlformats.org/officeDocument/2006/relationships/slideMaster" Target="/ppt/slideMasters/slideMaster1.xml" Id="Rb7f3a7140a2c4db1" /><Relationship Type="http://schemas.openxmlformats.org/officeDocument/2006/relationships/notesMaster" Target="/ppt/notesMasters/notesMaster1.xml" Id="R79700413695442d1" /><Relationship Type="http://schemas.openxmlformats.org/officeDocument/2006/relationships/presProps" Target="/ppt/presProps.xml" Id="R8a5680d1cbcd4dab" /><Relationship Type="http://schemas.openxmlformats.org/officeDocument/2006/relationships/viewProps" Target="/ppt/viewProps.xml" Id="Rfeb1183ab0e8476b" /><Relationship Type="http://schemas.openxmlformats.org/officeDocument/2006/relationships/tableStyles" Target="/ppt/tableStyles.xml" Id="R1578fae2b2344fe1" /><Relationship Type="http://schemas.openxmlformats.org/officeDocument/2006/relationships/slide" Target="/ppt/slides/slide1.xml" Id="R1f2f5c9053094bbe" /><Relationship Type="http://schemas.openxmlformats.org/officeDocument/2006/relationships/slide" Target="/ppt/slides/slide2.xml" Id="Rbaee2f06d4d849e8" /><Relationship Type="http://schemas.openxmlformats.org/officeDocument/2006/relationships/slide" Target="/ppt/slides/slide3.xml" Id="Rdd80354d15e74f83" /><Relationship Type="http://schemas.openxmlformats.org/officeDocument/2006/relationships/slide" Target="/ppt/slides/slide4.xml" Id="R50bb7717cd0448be" /><Relationship Type="http://schemas.openxmlformats.org/officeDocument/2006/relationships/slide" Target="/ppt/slides/slide5.xml" Id="R5a75aad640974206" /><Relationship Type="http://schemas.openxmlformats.org/officeDocument/2006/relationships/slide" Target="/ppt/slides/slide6.xml" Id="Rbe353e8807bd4548" /><Relationship Type="http://schemas.openxmlformats.org/officeDocument/2006/relationships/slide" Target="/ppt/slides/slide7.xml" Id="Rf9af1c13ec52426e" /><Relationship Type="http://schemas.openxmlformats.org/officeDocument/2006/relationships/slide" Target="/ppt/slides/slide8.xml" Id="Rb53e46be9e6b44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d8157789784a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9a1acd023849a5" /><Relationship Type="http://schemas.openxmlformats.org/officeDocument/2006/relationships/notesMaster" Target="/ppt/notesMasters/notesMaster1.xml" Id="R64b9ad4968644b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04c4e3c95449be" /><Relationship Type="http://schemas.openxmlformats.org/officeDocument/2006/relationships/notesMaster" Target="/ppt/notesMasters/notesMaster1.xml" Id="R4f7a9b12bf3748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c19447debf4a18" /><Relationship Type="http://schemas.openxmlformats.org/officeDocument/2006/relationships/notesMaster" Target="/ppt/notesMasters/notesMaster1.xml" Id="Ra4665efd477d4b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8d06a59c0247ca" /><Relationship Type="http://schemas.openxmlformats.org/officeDocument/2006/relationships/notesMaster" Target="/ppt/notesMasters/notesMaster1.xml" Id="R63c2c94f57294f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de3be84640401a" /><Relationship Type="http://schemas.openxmlformats.org/officeDocument/2006/relationships/notesMaster" Target="/ppt/notesMasters/notesMaster1.xml" Id="R47d2b170394342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7cbf7b20f648a6" /><Relationship Type="http://schemas.openxmlformats.org/officeDocument/2006/relationships/notesMaster" Target="/ppt/notesMasters/notesMaster1.xml" Id="R7ee7d8894b2742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d98ff1090641d5" /><Relationship Type="http://schemas.openxmlformats.org/officeDocument/2006/relationships/notesMaster" Target="/ppt/notesMasters/notesMaster1.xml" Id="R7608da0a62f54d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89facbf82a49bb" /><Relationship Type="http://schemas.openxmlformats.org/officeDocument/2006/relationships/notesMaster" Target="/ppt/notesMasters/notesMaster1.xml" Id="Rc2233ae1f9764b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supplied Theme05_Participant_Guide_UPDATED_FBD.docx (maximum eight slides); official FDB-v3 reports and run evidence in docs/results/kaggle-20261004/; docs/ARCHITECTURE.md. The 2026-10-04 Kaggle run scored 70/100 strict passes and 100/100 turn-takes over all 100 recordings; the 29 recordings hit by a provider credit outage were re-recorded with the same code. The optional organizer LLM judge and single-session repeat runs remain outstanding. Live extension demonstration is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supplied Theme05_Participant_Guide_UPDATED_FBD.docx (maximum eight slides); official FDB-v3 reports and run evidence in docs/results/kaggle-20261004/; docs/ARCHITECTURE.md. The 2026-10-04 Kaggle run scored 70/100 strict passes and 100/100 turn-takes over all 100 recordings; the 29 recordings hit by a provider credit outage were re-recorded with the same code. The optional organizer LLM judge and single-session repeat runs remain outstanding. Live extension demonstration is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supplied Theme05_Participant_Guide_UPDATED_FBD.docx (maximum eight slides); official FDB-v3 reports and run evidence in docs/results/kaggle-20261004/; docs/ARCHITECTURE.md. The 2026-10-04 Kaggle run scored 70/100 strict passes and 100/100 turn-takes over all 100 recordings; the 29 recordings hit by a provider credit outage were re-recorded with the same code. The optional organizer LLM judge and single-session repeat runs remain outstanding. Live extension demonstration is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docs/results/kaggle-20261004/ official reports, run-manifest.json and summary.md. User confirmed submission tasks complete on 2026-10-05. Run contains 71 original and 29 re-recorded results after a quota outage; organizer LLM judge disabled. Demo: https://cursor.com/artifacts/v/art-65efdeb4-9b6f-4416-839a-875b82833f5a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supplied Theme05_Participant_Guide_UPDATED_FBD.docx (maximum eight slides); official FDB-v3 reports and run evidence in docs/results/kaggle-20261004/; docs/ARCHITECTURE.md. The 2026-10-04 Kaggle run scored 70/100 strict passes and 100/100 turn-takes over all 100 recordings; the 29 recordings hit by a provider credit outage were re-recorded with the same code. The optional organizer LLM judge and single-session repeat runs remain outstanding. Live extension demonstration is pending.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docs/results/kaggle-20261004/ official reports, run-manifest.json and summary.md. User confirmed submission tasks complete on 2026-10-05. Run contains 71 original and 29 re-recorded results after a quota outage; organizer LLM judge disabled. Demo: https://cursor.com/artifacts/v/art-65efdeb4-9b6f-4416-839a-875b82833f5a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docs/results/kaggle-20261004/ official reports, run-manifest.json and summary.md. User confirmed submission tasks complete on 2026-10-05. Run contains 71 original and 29 re-recorded results after a quota outage; organizer LLM judge disabled. Demo: https://cursor.com/artifacts/v/art-65efdeb4-9b6f-4416-839a-875b82833f5a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docs/results/kaggle-20261004/ official reports, run-manifest.json and summary.md. User confirmed submission tasks complete on 2026-10-05. Run contains 71 original and 29 re-recorded results after a quota outage; organizer LLM judge disabled. Demo: https://cursor.com/artifacts/v/art-65efdeb4-9b6f-4416-839a-875b82833f5a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ee1235689450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716a1771041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13a76190548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85bd2f2d54e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27987f94674a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4ead1e6355445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67144f5ce449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b35d1537f6455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5cfd60d9d465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135b519794a2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f353e5159498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e213efd6c4e67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15">
            <a:extLst xmlns:a="http://schemas.openxmlformats.org/drawingml/2006/main">
              <a:ext uri="{FF2B5EF4-FFF2-40B4-BE49-F238E27FC236}">
                <a16:creationId xmlns:a16="http://schemas.microsoft.com/office/drawing/2014/main" id="{BDEF6DC2-BCB8-443A-8143-DA3B97DB0B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15">
            <a:extLst xmlns:a="http://schemas.openxmlformats.org/drawingml/2006/main">
              <a:ext uri="{FF2B5EF4-FFF2-40B4-BE49-F238E27FC236}">
                <a16:creationId xmlns:a16="http://schemas.microsoft.com/office/drawing/2014/main" id="{64303F11-9B09-45E4-8FF8-4859D835CD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15">
            <a:extLst xmlns:a="http://schemas.openxmlformats.org/drawingml/2006/main">
              <a:ext uri="{FF2B5EF4-FFF2-40B4-BE49-F238E27FC236}">
                <a16:creationId xmlns:a16="http://schemas.microsoft.com/office/drawing/2014/main" id="{97EE11DA-B0E3-4078-BCF8-331B758BA6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15">
            <a:extLst xmlns:a="http://schemas.openxmlformats.org/drawingml/2006/main">
              <a:ext uri="{FF2B5EF4-FFF2-40B4-BE49-F238E27FC236}">
                <a16:creationId xmlns:a16="http://schemas.microsoft.com/office/drawing/2014/main" id="{0D8C3A9E-D129-4B7E-91AF-D87E443258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" name="Google Shape;21;p15">
            <a:extLst xmlns:a="http://schemas.openxmlformats.org/drawingml/2006/main">
              <a:ext uri="{FF2B5EF4-FFF2-40B4-BE49-F238E27FC236}">
                <a16:creationId xmlns:a16="http://schemas.microsoft.com/office/drawing/2014/main" id="{686BD020-BA08-48F6-9ED1-6F056F3278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6">
            <a:extLst xmlns:a="http://schemas.openxmlformats.org/drawingml/2006/main">
              <a:ext uri="{FF2B5EF4-FFF2-40B4-BE49-F238E27FC236}">
                <a16:creationId xmlns:a16="http://schemas.microsoft.com/office/drawing/2014/main" id="{47F26ECF-CB01-4791-A625-491AB7F664C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16">
            <a:extLst xmlns:a="http://schemas.openxmlformats.org/drawingml/2006/main">
              <a:ext uri="{FF2B5EF4-FFF2-40B4-BE49-F238E27FC236}">
                <a16:creationId xmlns:a16="http://schemas.microsoft.com/office/drawing/2014/main" id="{702EF39D-1168-4519-BE16-C68C7517A9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25" name="Google Shape;25;p16">
            <a:extLst xmlns:a="http://schemas.openxmlformats.org/drawingml/2006/main">
              <a:ext uri="{FF2B5EF4-FFF2-40B4-BE49-F238E27FC236}">
                <a16:creationId xmlns:a16="http://schemas.microsoft.com/office/drawing/2014/main" id="{B533529A-46C0-4969-87E0-903FB7A432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6" name="Google Shape;26;p16">
            <a:extLst xmlns:a="http://schemas.openxmlformats.org/drawingml/2006/main">
              <a:ext uri="{FF2B5EF4-FFF2-40B4-BE49-F238E27FC236}">
                <a16:creationId xmlns:a16="http://schemas.microsoft.com/office/drawing/2014/main" id="{FD9CECE9-223E-4510-B275-1197FAC73B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16">
            <a:extLst xmlns:a="http://schemas.openxmlformats.org/drawingml/2006/main">
              <a:ext uri="{FF2B5EF4-FFF2-40B4-BE49-F238E27FC236}">
                <a16:creationId xmlns:a16="http://schemas.microsoft.com/office/drawing/2014/main" id="{30F770AD-3B8A-4566-B882-E281078EAB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7">
            <a:extLst xmlns:a="http://schemas.openxmlformats.org/drawingml/2006/main">
              <a:ext uri="{FF2B5EF4-FFF2-40B4-BE49-F238E27FC236}">
                <a16:creationId xmlns:a16="http://schemas.microsoft.com/office/drawing/2014/main" id="{D16EC812-B9C9-4C0B-9F3C-6B18DE0F8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17">
            <a:extLst xmlns:a="http://schemas.openxmlformats.org/drawingml/2006/main">
              <a:ext uri="{FF2B5EF4-FFF2-40B4-BE49-F238E27FC236}">
                <a16:creationId xmlns:a16="http://schemas.microsoft.com/office/drawing/2014/main" id="{56A4446D-0B92-46A4-905B-3945D5A854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17">
            <a:extLst xmlns:a="http://schemas.openxmlformats.org/drawingml/2006/main">
              <a:ext uri="{FF2B5EF4-FFF2-40B4-BE49-F238E27FC236}">
                <a16:creationId xmlns:a16="http://schemas.microsoft.com/office/drawing/2014/main" id="{6B1208E8-B1E8-480E-B2B1-E1AE0002F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2" name="Google Shape;32;p17">
            <a:extLst xmlns:a="http://schemas.openxmlformats.org/drawingml/2006/main">
              <a:ext uri="{FF2B5EF4-FFF2-40B4-BE49-F238E27FC236}">
                <a16:creationId xmlns:a16="http://schemas.microsoft.com/office/drawing/2014/main" id="{A50E263A-C826-4F54-9DD5-6D98C87BFA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Google Shape;33;p17">
            <a:extLst xmlns:a="http://schemas.openxmlformats.org/drawingml/2006/main">
              <a:ext uri="{FF2B5EF4-FFF2-40B4-BE49-F238E27FC236}">
                <a16:creationId xmlns:a16="http://schemas.microsoft.com/office/drawing/2014/main" id="{A8E83B27-6972-4382-A19E-2F0AF34E1C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18">
            <a:extLst xmlns:a="http://schemas.openxmlformats.org/drawingml/2006/main">
              <a:ext uri="{FF2B5EF4-FFF2-40B4-BE49-F238E27FC236}">
                <a16:creationId xmlns:a16="http://schemas.microsoft.com/office/drawing/2014/main" id="{3690BB50-97FD-4885-BF88-995D3D8C2F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6" name="Google Shape;36;p18">
            <a:extLst xmlns:a="http://schemas.openxmlformats.org/drawingml/2006/main">
              <a:ext uri="{FF2B5EF4-FFF2-40B4-BE49-F238E27FC236}">
                <a16:creationId xmlns:a16="http://schemas.microsoft.com/office/drawing/2014/main" id="{E4A30B26-CCCC-4E24-9D37-606DFCEDC5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7" name="Google Shape;37;p18">
            <a:extLst xmlns:a="http://schemas.openxmlformats.org/drawingml/2006/main">
              <a:ext uri="{FF2B5EF4-FFF2-40B4-BE49-F238E27FC236}">
                <a16:creationId xmlns:a16="http://schemas.microsoft.com/office/drawing/2014/main" id="{F80AAB1C-8CAD-485E-A280-2C1781A205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18">
            <a:extLst xmlns:a="http://schemas.openxmlformats.org/drawingml/2006/main">
              <a:ext uri="{FF2B5EF4-FFF2-40B4-BE49-F238E27FC236}">
                <a16:creationId xmlns:a16="http://schemas.microsoft.com/office/drawing/2014/main" id="{FEFC5EEB-1478-4FEC-A3C4-A7699837BF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18">
            <a:extLst xmlns:a="http://schemas.openxmlformats.org/drawingml/2006/main">
              <a:ext uri="{FF2B5EF4-FFF2-40B4-BE49-F238E27FC236}">
                <a16:creationId xmlns:a16="http://schemas.microsoft.com/office/drawing/2014/main" id="{CD06553F-C388-4913-98E9-8C140563E6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18">
            <a:extLst xmlns:a="http://schemas.openxmlformats.org/drawingml/2006/main">
              <a:ext uri="{FF2B5EF4-FFF2-40B4-BE49-F238E27FC236}">
                <a16:creationId xmlns:a16="http://schemas.microsoft.com/office/drawing/2014/main" id="{5828B9DE-02A3-4DE8-B271-9A3654430A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9">
            <a:extLst xmlns:a="http://schemas.openxmlformats.org/drawingml/2006/main">
              <a:ext uri="{FF2B5EF4-FFF2-40B4-BE49-F238E27FC236}">
                <a16:creationId xmlns:a16="http://schemas.microsoft.com/office/drawing/2014/main" id="{E56F1EEC-EEF1-4F6A-8A2A-6853B22F43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19">
            <a:extLst xmlns:a="http://schemas.openxmlformats.org/drawingml/2006/main">
              <a:ext uri="{FF2B5EF4-FFF2-40B4-BE49-F238E27FC236}">
                <a16:creationId xmlns:a16="http://schemas.microsoft.com/office/drawing/2014/main" id="{D151307D-8AC9-4252-AEF2-1DB0CAF3B7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19">
            <a:extLst xmlns:a="http://schemas.openxmlformats.org/drawingml/2006/main">
              <a:ext uri="{FF2B5EF4-FFF2-40B4-BE49-F238E27FC236}">
                <a16:creationId xmlns:a16="http://schemas.microsoft.com/office/drawing/2014/main" id="{18E26021-5E2B-411D-BEE8-1F277D9F4A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19">
            <a:extLst xmlns:a="http://schemas.openxmlformats.org/drawingml/2006/main">
              <a:ext uri="{FF2B5EF4-FFF2-40B4-BE49-F238E27FC236}">
                <a16:creationId xmlns:a16="http://schemas.microsoft.com/office/drawing/2014/main" id="{52B36C89-B8C6-42FA-BF48-3C113B16248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19">
            <a:extLst xmlns:a="http://schemas.openxmlformats.org/drawingml/2006/main">
              <a:ext uri="{FF2B5EF4-FFF2-40B4-BE49-F238E27FC236}">
                <a16:creationId xmlns:a16="http://schemas.microsoft.com/office/drawing/2014/main" id="{8B65AF01-994E-462E-BFB3-CACC602DE9D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19">
            <a:extLst xmlns:a="http://schemas.openxmlformats.org/drawingml/2006/main">
              <a:ext uri="{FF2B5EF4-FFF2-40B4-BE49-F238E27FC236}">
                <a16:creationId xmlns:a16="http://schemas.microsoft.com/office/drawing/2014/main" id="{7A799B8C-D0F8-464E-9E90-40E74350CB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19">
            <a:extLst xmlns:a="http://schemas.openxmlformats.org/drawingml/2006/main">
              <a:ext uri="{FF2B5EF4-FFF2-40B4-BE49-F238E27FC236}">
                <a16:creationId xmlns:a16="http://schemas.microsoft.com/office/drawing/2014/main" id="{92435B2F-579B-4B1A-943D-9637D3F1C6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9" name="Google Shape;49;p19">
            <a:extLst xmlns:a="http://schemas.openxmlformats.org/drawingml/2006/main">
              <a:ext uri="{FF2B5EF4-FFF2-40B4-BE49-F238E27FC236}">
                <a16:creationId xmlns:a16="http://schemas.microsoft.com/office/drawing/2014/main" id="{8F194BAE-E3FE-45D7-BC01-A0B746AC99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20">
            <a:extLst xmlns:a="http://schemas.openxmlformats.org/drawingml/2006/main">
              <a:ext uri="{FF2B5EF4-FFF2-40B4-BE49-F238E27FC236}">
                <a16:creationId xmlns:a16="http://schemas.microsoft.com/office/drawing/2014/main" id="{93E1293E-DBE0-478C-A0EE-EF2658D95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20">
            <a:extLst xmlns:a="http://schemas.openxmlformats.org/drawingml/2006/main">
              <a:ext uri="{FF2B5EF4-FFF2-40B4-BE49-F238E27FC236}">
                <a16:creationId xmlns:a16="http://schemas.microsoft.com/office/drawing/2014/main" id="{4D1178E6-C2F9-41E3-AE06-A419D97BE0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20">
            <a:extLst xmlns:a="http://schemas.openxmlformats.org/drawingml/2006/main">
              <a:ext uri="{FF2B5EF4-FFF2-40B4-BE49-F238E27FC236}">
                <a16:creationId xmlns:a16="http://schemas.microsoft.com/office/drawing/2014/main" id="{A279B8DF-649F-4E65-BA13-A8E6941D3E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4" name="Google Shape;54;p20">
            <a:extLst xmlns:a="http://schemas.openxmlformats.org/drawingml/2006/main">
              <a:ext uri="{FF2B5EF4-FFF2-40B4-BE49-F238E27FC236}">
                <a16:creationId xmlns:a16="http://schemas.microsoft.com/office/drawing/2014/main" id="{73A6501C-9E6A-4F7C-9FCC-87097DCB82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Google Shape;56;p21">
            <a:extLst xmlns:a="http://schemas.openxmlformats.org/drawingml/2006/main">
              <a:ext uri="{FF2B5EF4-FFF2-40B4-BE49-F238E27FC236}">
                <a16:creationId xmlns:a16="http://schemas.microsoft.com/office/drawing/2014/main" id="{99CAE481-31FB-4C61-8055-A8A5F2A8A9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21">
            <a:extLst xmlns:a="http://schemas.openxmlformats.org/drawingml/2006/main">
              <a:ext uri="{FF2B5EF4-FFF2-40B4-BE49-F238E27FC236}">
                <a16:creationId xmlns:a16="http://schemas.microsoft.com/office/drawing/2014/main" id="{878AAEF1-CE4B-4241-AAAD-984D1B4758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8" name="Google Shape;58;p21">
            <a:extLst xmlns:a="http://schemas.openxmlformats.org/drawingml/2006/main">
              <a:ext uri="{FF2B5EF4-FFF2-40B4-BE49-F238E27FC236}">
                <a16:creationId xmlns:a16="http://schemas.microsoft.com/office/drawing/2014/main" id="{F87E867D-0957-4A09-9751-F5A82C363B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22">
            <a:extLst xmlns:a="http://schemas.openxmlformats.org/drawingml/2006/main">
              <a:ext uri="{FF2B5EF4-FFF2-40B4-BE49-F238E27FC236}">
                <a16:creationId xmlns:a16="http://schemas.microsoft.com/office/drawing/2014/main" id="{ECBB1B1B-8219-4FA9-9A48-FC539E6CA6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22">
            <a:extLst xmlns:a="http://schemas.openxmlformats.org/drawingml/2006/main">
              <a:ext uri="{FF2B5EF4-FFF2-40B4-BE49-F238E27FC236}">
                <a16:creationId xmlns:a16="http://schemas.microsoft.com/office/drawing/2014/main" id="{7E671226-A666-4E1D-AF16-F46E2D8D99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22">
            <a:extLst xmlns:a="http://schemas.openxmlformats.org/drawingml/2006/main">
              <a:ext uri="{FF2B5EF4-FFF2-40B4-BE49-F238E27FC236}">
                <a16:creationId xmlns:a16="http://schemas.microsoft.com/office/drawing/2014/main" id="{E76DBD83-4AE7-45FE-8665-98ABED2CFB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22">
            <a:extLst xmlns:a="http://schemas.openxmlformats.org/drawingml/2006/main">
              <a:ext uri="{FF2B5EF4-FFF2-40B4-BE49-F238E27FC236}">
                <a16:creationId xmlns:a16="http://schemas.microsoft.com/office/drawing/2014/main" id="{B2C29BFE-ABA7-403E-B19D-537A86BF41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4" name="Google Shape;64;p22">
            <a:extLst xmlns:a="http://schemas.openxmlformats.org/drawingml/2006/main">
              <a:ext uri="{FF2B5EF4-FFF2-40B4-BE49-F238E27FC236}">
                <a16:creationId xmlns:a16="http://schemas.microsoft.com/office/drawing/2014/main" id="{1EBF0566-54F5-40FF-9F56-2CFD3D44D5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5" name="Google Shape;65;p22">
            <a:extLst xmlns:a="http://schemas.openxmlformats.org/drawingml/2006/main">
              <a:ext uri="{FF2B5EF4-FFF2-40B4-BE49-F238E27FC236}">
                <a16:creationId xmlns:a16="http://schemas.microsoft.com/office/drawing/2014/main" id="{F37805E4-9C7D-4051-8348-7FA252AA70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23">
            <a:extLst xmlns:a="http://schemas.openxmlformats.org/drawingml/2006/main">
              <a:ext uri="{FF2B5EF4-FFF2-40B4-BE49-F238E27FC236}">
                <a16:creationId xmlns:a16="http://schemas.microsoft.com/office/drawing/2014/main" id="{95D88A19-184B-406C-A877-14524E7D8E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23">
            <a:extLst xmlns:a="http://schemas.openxmlformats.org/drawingml/2006/main">
              <a:ext uri="{FF2B5EF4-FFF2-40B4-BE49-F238E27FC236}">
                <a16:creationId xmlns:a16="http://schemas.microsoft.com/office/drawing/2014/main" id="{3FD1E54D-B7BC-48D0-93A2-F76F3ECFCA9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9" name="Google Shape;69;p23">
            <a:extLst xmlns:a="http://schemas.openxmlformats.org/drawingml/2006/main">
              <a:ext uri="{FF2B5EF4-FFF2-40B4-BE49-F238E27FC236}">
                <a16:creationId xmlns:a16="http://schemas.microsoft.com/office/drawing/2014/main" id="{A174C9B6-46C3-482E-A6B9-04114AC59E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23">
            <a:extLst xmlns:a="http://schemas.openxmlformats.org/drawingml/2006/main">
              <a:ext uri="{FF2B5EF4-FFF2-40B4-BE49-F238E27FC236}">
                <a16:creationId xmlns:a16="http://schemas.microsoft.com/office/drawing/2014/main" id="{1C856CF4-2DFE-476D-A28C-D9C97BFE37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23">
            <a:extLst xmlns:a="http://schemas.openxmlformats.org/drawingml/2006/main">
              <a:ext uri="{FF2B5EF4-FFF2-40B4-BE49-F238E27FC236}">
                <a16:creationId xmlns:a16="http://schemas.microsoft.com/office/drawing/2014/main" id="{ADDADC02-CAD8-48EF-B6AB-B83BCA6FF6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2" name="Google Shape;72;p23">
            <a:extLst xmlns:a="http://schemas.openxmlformats.org/drawingml/2006/main">
              <a:ext uri="{FF2B5EF4-FFF2-40B4-BE49-F238E27FC236}">
                <a16:creationId xmlns:a16="http://schemas.microsoft.com/office/drawing/2014/main" id="{9B15B0B5-577F-4F0A-BD85-6154548C3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24">
            <a:extLst xmlns:a="http://schemas.openxmlformats.org/drawingml/2006/main">
              <a:ext uri="{FF2B5EF4-FFF2-40B4-BE49-F238E27FC236}">
                <a16:creationId xmlns:a16="http://schemas.microsoft.com/office/drawing/2014/main" id="{3F4DCDE0-0827-44C1-B801-6FA8A09AD4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5" name="Google Shape;75;p24">
            <a:extLst xmlns:a="http://schemas.openxmlformats.org/drawingml/2006/main">
              <a:ext uri="{FF2B5EF4-FFF2-40B4-BE49-F238E27FC236}">
                <a16:creationId xmlns:a16="http://schemas.microsoft.com/office/drawing/2014/main" id="{023DBB2E-3965-4118-935B-55E501C971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24">
            <a:extLst xmlns:a="http://schemas.openxmlformats.org/drawingml/2006/main">
              <a:ext uri="{FF2B5EF4-FFF2-40B4-BE49-F238E27FC236}">
                <a16:creationId xmlns:a16="http://schemas.microsoft.com/office/drawing/2014/main" id="{6C83FCC7-FDCD-478B-8DAB-D0AFBDE78C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24">
            <a:extLst xmlns:a="http://schemas.openxmlformats.org/drawingml/2006/main">
              <a:ext uri="{FF2B5EF4-FFF2-40B4-BE49-F238E27FC236}">
                <a16:creationId xmlns:a16="http://schemas.microsoft.com/office/drawing/2014/main" id="{01917116-9B1F-4A08-9CE8-D86AC1BD5A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8" name="Google Shape;78;p24">
            <a:extLst xmlns:a="http://schemas.openxmlformats.org/drawingml/2006/main">
              <a:ext uri="{FF2B5EF4-FFF2-40B4-BE49-F238E27FC236}">
                <a16:creationId xmlns:a16="http://schemas.microsoft.com/office/drawing/2014/main" id="{EFACF98A-E1B0-4AC5-BAEC-58CDBCCD35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25">
            <a:extLst xmlns:a="http://schemas.openxmlformats.org/drawingml/2006/main">
              <a:ext uri="{FF2B5EF4-FFF2-40B4-BE49-F238E27FC236}">
                <a16:creationId xmlns:a16="http://schemas.microsoft.com/office/drawing/2014/main" id="{E0D3DD95-DB3B-4A3A-BFBF-B9624EA80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p25">
            <a:extLst xmlns:a="http://schemas.openxmlformats.org/drawingml/2006/main">
              <a:ext uri="{FF2B5EF4-FFF2-40B4-BE49-F238E27FC236}">
                <a16:creationId xmlns:a16="http://schemas.microsoft.com/office/drawing/2014/main" id="{69AA1A61-4C3D-4073-B1AF-8F36475F50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p25">
            <a:extLst xmlns:a="http://schemas.openxmlformats.org/drawingml/2006/main">
              <a:ext uri="{FF2B5EF4-FFF2-40B4-BE49-F238E27FC236}">
                <a16:creationId xmlns:a16="http://schemas.microsoft.com/office/drawing/2014/main" id="{C7426A4B-ED26-4F49-A845-789AEED719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3" name="Google Shape;83;p25">
            <a:extLst xmlns:a="http://schemas.openxmlformats.org/drawingml/2006/main">
              <a:ext uri="{FF2B5EF4-FFF2-40B4-BE49-F238E27FC236}">
                <a16:creationId xmlns:a16="http://schemas.microsoft.com/office/drawing/2014/main" id="{55A3B83A-F73B-4F66-B407-E2A4D25A13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4" name="Google Shape;84;p25">
            <a:extLst xmlns:a="http://schemas.openxmlformats.org/drawingml/2006/main">
              <a:ext uri="{FF2B5EF4-FFF2-40B4-BE49-F238E27FC236}">
                <a16:creationId xmlns:a16="http://schemas.microsoft.com/office/drawing/2014/main" id="{1BF14B80-EB82-4295-8C1C-06E8B7F9E7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5450b11b02486d" /><Relationship Type="http://schemas.openxmlformats.org/officeDocument/2006/relationships/slideLayout" Target="/ppt/slideLayouts/slideLayout1.xml" Id="Rb98e6b610e4545c7" /><Relationship Type="http://schemas.openxmlformats.org/officeDocument/2006/relationships/slideLayout" Target="/ppt/slideLayouts/slideLayout2.xml" Id="Re2b77754c54e4ac3" /><Relationship Type="http://schemas.openxmlformats.org/officeDocument/2006/relationships/slideLayout" Target="/ppt/slideLayouts/slideLayout3.xml" Id="R9c4e91109b134644" /><Relationship Type="http://schemas.openxmlformats.org/officeDocument/2006/relationships/slideLayout" Target="/ppt/slideLayouts/slideLayout4.xml" Id="R19b87c61af644c9f" /><Relationship Type="http://schemas.openxmlformats.org/officeDocument/2006/relationships/slideLayout" Target="/ppt/slideLayouts/slideLayout5.xml" Id="Rb6e458cc6c1d4256" /><Relationship Type="http://schemas.openxmlformats.org/officeDocument/2006/relationships/slideLayout" Target="/ppt/slideLayouts/slideLayout6.xml" Id="R443f64f6cf694d3e" /><Relationship Type="http://schemas.openxmlformats.org/officeDocument/2006/relationships/slideLayout" Target="/ppt/slideLayouts/slideLayout7.xml" Id="Rc27d9f85b2d345e5" /><Relationship Type="http://schemas.openxmlformats.org/officeDocument/2006/relationships/slideLayout" Target="/ppt/slideLayouts/slideLayout8.xml" Id="Rfa768fb59d8e4f4b" /><Relationship Type="http://schemas.openxmlformats.org/officeDocument/2006/relationships/slideLayout" Target="/ppt/slideLayouts/slideLayout9.xml" Id="Ree7bb8464dcb4455" /><Relationship Type="http://schemas.openxmlformats.org/officeDocument/2006/relationships/slideLayout" Target="/ppt/slideLayouts/slideLayout10.xml" Id="R916c2fd7fec942c1" /><Relationship Type="http://schemas.openxmlformats.org/officeDocument/2006/relationships/slideLayout" Target="/ppt/slideLayouts/slideLayout11.xml" Id="Rcfe4c711345f41f3" /><Relationship Type="http://schemas.openxmlformats.org/officeDocument/2006/relationships/slideLayout" Target="/ppt/slideLayouts/slideLayout12.xml" Id="Rb3f16d3dc13344b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3">
            <a:extLst xmlns:a="http://schemas.openxmlformats.org/drawingml/2006/main">
              <a:ext uri="{FF2B5EF4-FFF2-40B4-BE49-F238E27FC236}">
                <a16:creationId xmlns:a16="http://schemas.microsoft.com/office/drawing/2014/main" id="{C6D9F933-F736-44C2-BEDD-57EB61A512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13">
            <a:extLst xmlns:a="http://schemas.openxmlformats.org/drawingml/2006/main">
              <a:ext uri="{FF2B5EF4-FFF2-40B4-BE49-F238E27FC236}">
                <a16:creationId xmlns:a16="http://schemas.microsoft.com/office/drawing/2014/main" id="{939778B0-8F6A-47A2-BC0F-7ED56B19E4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13">
            <a:extLst xmlns:a="http://schemas.openxmlformats.org/drawingml/2006/main">
              <a:ext uri="{FF2B5EF4-FFF2-40B4-BE49-F238E27FC236}">
                <a16:creationId xmlns:a16="http://schemas.microsoft.com/office/drawing/2014/main" id="{FB94C013-5A6E-4139-AF78-999523D85F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13">
            <a:extLst xmlns:a="http://schemas.openxmlformats.org/drawingml/2006/main">
              <a:ext uri="{FF2B5EF4-FFF2-40B4-BE49-F238E27FC236}">
                <a16:creationId xmlns:a16="http://schemas.microsoft.com/office/drawing/2014/main" id="{FFFC8DA0-0C13-4D20-B332-3D49C3D98A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13">
            <a:extLst xmlns:a="http://schemas.openxmlformats.org/drawingml/2006/main">
              <a:ext uri="{FF2B5EF4-FFF2-40B4-BE49-F238E27FC236}">
                <a16:creationId xmlns:a16="http://schemas.microsoft.com/office/drawing/2014/main" id="{1017D4C6-0C4B-4B91-99D8-8A6E32A82E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8e6b610e4545c7"/>
    <p:sldLayoutId xmlns:r="http://schemas.openxmlformats.org/officeDocument/2006/relationships" id="2147483650" r:id="Re2b77754c54e4ac3"/>
    <p:sldLayoutId xmlns:r="http://schemas.openxmlformats.org/officeDocument/2006/relationships" id="2147483651" r:id="R9c4e91109b134644"/>
    <p:sldLayoutId xmlns:r="http://schemas.openxmlformats.org/officeDocument/2006/relationships" id="2147483652" r:id="R19b87c61af644c9f"/>
    <p:sldLayoutId xmlns:r="http://schemas.openxmlformats.org/officeDocument/2006/relationships" id="2147483653" r:id="Rb6e458cc6c1d4256"/>
    <p:sldLayoutId xmlns:r="http://schemas.openxmlformats.org/officeDocument/2006/relationships" id="2147483654" r:id="R443f64f6cf694d3e"/>
    <p:sldLayoutId xmlns:r="http://schemas.openxmlformats.org/officeDocument/2006/relationships" id="2147483655" r:id="Rc27d9f85b2d345e5"/>
    <p:sldLayoutId xmlns:r="http://schemas.openxmlformats.org/officeDocument/2006/relationships" id="2147483656" r:id="Rfa768fb59d8e4f4b"/>
    <p:sldLayoutId xmlns:r="http://schemas.openxmlformats.org/officeDocument/2006/relationships" id="2147483657" r:id="Ree7bb8464dcb4455"/>
    <p:sldLayoutId xmlns:r="http://schemas.openxmlformats.org/officeDocument/2006/relationships" id="2147483658" r:id="R916c2fd7fec942c1"/>
    <p:sldLayoutId xmlns:r="http://schemas.openxmlformats.org/officeDocument/2006/relationships" id="2147483659" r:id="Rcfe4c711345f41f3"/>
    <p:sldLayoutId xmlns:r="http://schemas.openxmlformats.org/officeDocument/2006/relationships" id="2147483660" r:id="Rb3f16d3dc13344b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756cd73af40d5" /><Relationship Type="http://schemas.openxmlformats.org/officeDocument/2006/relationships/image" Target="/ppt/media/image.png" Id="Re15dfb9738cb435e" /><Relationship Type="http://schemas.openxmlformats.org/officeDocument/2006/relationships/notesSlide" Target="/ppt/notesSlides/notesSlide1.xml" Id="R09b5c559ec4d4a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f572ee6755478b" /><Relationship Type="http://schemas.openxmlformats.org/officeDocument/2006/relationships/notesSlide" Target="/ppt/notesSlides/notesSlide2.xml" Id="R0a4f3581914041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03a4c2d5364774" /><Relationship Type="http://schemas.openxmlformats.org/officeDocument/2006/relationships/notesSlide" Target="/ppt/notesSlides/notesSlide3.xml" Id="R9cbcf51070d743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307ac0134340df" /><Relationship Type="http://schemas.openxmlformats.org/officeDocument/2006/relationships/notesSlide" Target="/ppt/notesSlides/notesSlide4.xml" Id="Rbff6d30cee8741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5e58b31d654f64" /><Relationship Type="http://schemas.openxmlformats.org/officeDocument/2006/relationships/notesSlide" Target="/ppt/notesSlides/notesSlide5.xml" Id="R94bd02d5e52b46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853304493c4530" /><Relationship Type="http://schemas.openxmlformats.org/officeDocument/2006/relationships/notesSlide" Target="/ppt/notesSlides/notesSlide6.xml" Id="R86d7c6de145441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41b08720db46fe" /><Relationship Type="http://schemas.openxmlformats.org/officeDocument/2006/relationships/notesSlide" Target="/ppt/notesSlides/notesSlide7.xml" Id="Rb22fd5d74c654a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5d8cd671604d39" /><Relationship Type="http://schemas.openxmlformats.org/officeDocument/2006/relationships/notesSlide" Target="/ppt/notesSlides/notesSlide8.xml" Id="Ree423c01df7f4a2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1">
            <a:extLst xmlns:a="http://schemas.openxmlformats.org/drawingml/2006/main">
              <a:ext uri="{FF2B5EF4-FFF2-40B4-BE49-F238E27FC236}">
                <a16:creationId xmlns:a16="http://schemas.microsoft.com/office/drawing/2014/main" id="{48B32EBD-E551-4D40-AD47-175DB539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76656"/>
            <a:ext cx="2423160" cy="34747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9D3F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>
            <a:extLst xmlns:a="http://schemas.openxmlformats.org/drawingml/2006/main">
              <a:ext uri="{FF2B5EF4-FFF2-40B4-BE49-F238E27FC236}">
                <a16:creationId xmlns:a16="http://schemas.microsoft.com/office/drawing/2014/main" id="{07F4282C-E564-45EF-A8A0-6A5C1E4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76656"/>
            <a:ext cx="242316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6D28D9"/>
                </a:solidFill>
                <a:latin typeface="Arial"/>
                <a:ea typeface="Arial"/>
                <a:cs typeface="Arial"/>
              </a:rPr>
              <a:t>SAMSUNG PRISM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1">
            <a:extLst xmlns:a="http://schemas.openxmlformats.org/drawingml/2006/main">
              <a:ext uri="{FF2B5EF4-FFF2-40B4-BE49-F238E27FC236}">
                <a16:creationId xmlns:a16="http://schemas.microsoft.com/office/drawing/2014/main" id="{21BC1C3B-DFFF-44A7-A7F3-E8B55B8F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07008"/>
            <a:ext cx="612648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sz="5000" b="1" i="0" u="none" cap="none">
                <a:solidFill>
                  <a:srgbClr val="14142B"/>
                </a:solidFill>
                <a:latin typeface="Arial"/>
                <a:ea typeface="Arial"/>
                <a:cs typeface="Arial"/>
              </a:rPr>
              <a:t>Generative AI</a:t>
            </a:r>
            <a:endParaRPr sz="5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1">
            <a:extLst xmlns:a="http://schemas.openxmlformats.org/drawingml/2006/main">
              <a:ext uri="{FF2B5EF4-FFF2-40B4-BE49-F238E27FC236}">
                <a16:creationId xmlns:a16="http://schemas.microsoft.com/office/drawing/2014/main" id="{BD97A2B6-B023-43AF-BA93-99A24158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612648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sz="5000" b="1" i="0" u="none" cap="none">
                <a:solidFill>
                  <a:srgbClr val="6D28D9"/>
                </a:solidFill>
                <a:latin typeface="Arial"/>
                <a:ea typeface="Arial"/>
                <a:cs typeface="Arial"/>
              </a:rPr>
              <a:t>Hackathon</a:t>
            </a:r>
            <a:endParaRPr sz="5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1">
            <a:extLst xmlns:a="http://schemas.openxmlformats.org/drawingml/2006/main">
              <a:ext uri="{FF2B5EF4-FFF2-40B4-BE49-F238E27FC236}">
                <a16:creationId xmlns:a16="http://schemas.microsoft.com/office/drawing/2014/main" id="{736595BE-D1B2-4107-B973-C4DB1BE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24912"/>
            <a:ext cx="612648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sz="2500" b="1" i="0" u="none" cap="none">
                <a:solidFill>
                  <a:srgbClr val="14142B"/>
                </a:solidFill>
                <a:latin typeface="Arial"/>
                <a:ea typeface="Arial"/>
                <a:cs typeface="Arial"/>
              </a:rPr>
              <a:t>3rd Edition</a:t>
            </a:r>
            <a:r>
              <a:rPr sz="20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   2026 – 27</a:t>
            </a:r>
            <a:endParaRPr sz="2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">
            <a:extLst xmlns:a="http://schemas.openxmlformats.org/drawingml/2006/main">
              <a:ext uri="{FF2B5EF4-FFF2-40B4-BE49-F238E27FC236}">
                <a16:creationId xmlns:a16="http://schemas.microsoft.com/office/drawing/2014/main" id="{B1B3045F-DB81-48E2-AB3C-2466E8C2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10128"/>
            <a:ext cx="585216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Theme ID - 05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Team Name - </a:t>
            </a: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smoothOperator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College Name - VITV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Member 1 - Maitri Shah</a:t>
            </a:r>
            <a:r>
              <a:rPr sz="1600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,</a:t>
            </a: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 Email: maitri.shah2024@vitstudent.ac.in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Member 2 – Aditya Vardhan Kochar, Email: aditya.vardhan2024@vitstudent.ac.in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Member 3 – Adheesh Garg, Email: adheesh.garg2023@vitstudent.ac.in</a:t>
            </a:r>
            <a:endParaRPr/>
          </a:p>
          <a:p xmlns:a="http://schemas.openxmlformats.org/drawingml/2006/main">
            <a:pPr marL="177800" marR="0" lvl="0" indent="-17780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Submission </a:t>
            </a: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Github</a:t>
            </a:r>
            <a:r>
              <a:rPr sz="1600" b="0" i="0" u="none" cap="none">
                <a:solidFill>
                  <a:srgbClr val="63637E"/>
                </a:solidFill>
                <a:latin typeface="Calibri"/>
                <a:ea typeface="Calibri"/>
                <a:cs typeface="Calibri"/>
              </a:rPr>
              <a:t> link - https://github.com/Maitri-shah29/Interra</a:t>
            </a:r>
            <a:endParaRPr/>
          </a:p>
          <a:p xmlns:a="http://schemas.openxmlformats.org/drawingml/2006/main">
            <a:pPr marL="177800" marR="0" lvl="0" indent="-76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cap="none">
              <a:solidFill>
                <a:srgbClr val="63637E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3" name="Google Shape;96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5dfb9738cb43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59168" y="1051560"/>
            <a:ext cx="4572000" cy="4572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4304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Google Shape;101;p2">
            <a:extLst xmlns:a="http://schemas.openxmlformats.org/drawingml/2006/main">
              <a:ext uri="{FF2B5EF4-FFF2-40B4-BE49-F238E27FC236}">
                <a16:creationId xmlns:a16="http://schemas.microsoft.com/office/drawing/2014/main" id="{DE264B8D-66BA-44B4-9511-1344C18D5A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Interra: interruption and self-correction</a:t>
            </a:r>
            <a:endParaRPr/>
          </a:p>
        </p:txBody>
      </p:sp>
      <p:sp>
        <p:nvSpPr>
          <p:cNvPr id="102" name="Google Shape;102;p2">
            <a:extLst xmlns:a="http://schemas.openxmlformats.org/drawingml/2006/main">
              <a:ext uri="{FF2B5EF4-FFF2-40B4-BE49-F238E27FC236}">
                <a16:creationId xmlns:a16="http://schemas.microsoft.com/office/drawing/2014/main" id="{752B680C-B4AA-43F6-BAEC-B501C24673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People interrupt, hesitate, and correct themselves while an assistant is working.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LiveKit voice agent handles overlapping speech and tool calls, with replies grounded in the official mock backend.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retained coordination runtime separately tests stale-result rejection and duplicate-write protection. The LiveKit adapter now drops a tool call before logging it if the person continues, and an identical call in one room runs once.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Full-Duplex-Bench v3: 100 human recordings, 79 scenarios, 12 tools, and one to three dependent calls.</a:t>
            </a:r>
          </a:p>
        </p:txBody>
      </p:sp>
    </p:spTree>
    <p:extLst>
      <p:ext uri="{BB962C8B-B14F-4D97-AF65-F5344CB8AC3E}">
        <p14:creationId xmlns:p14="http://schemas.microsoft.com/office/powerpoint/2010/main" val="639515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4">
            <a:extLst xmlns:a="http://schemas.openxmlformats.org/drawingml/2006/main">
              <a:ext uri="{FF2B5EF4-FFF2-40B4-BE49-F238E27FC236}">
                <a16:creationId xmlns:a16="http://schemas.microsoft.com/office/drawing/2014/main" id="{0513071F-384C-400C-8A8F-44FA74D766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09917" y="266513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Voice architecture and safety boundary</a:t>
            </a:r>
            <a:endParaRPr/>
          </a:p>
        </p:txBody>
      </p:sp>
      <p:sp>
        <p:nvSpPr>
          <p:cNvPr id="114" name="Google Shape;114;p4">
            <a:extLst xmlns:a="http://schemas.openxmlformats.org/drawingml/2006/main">
              <a:ext uri="{FF2B5EF4-FFF2-40B4-BE49-F238E27FC236}">
                <a16:creationId xmlns:a16="http://schemas.microsoft.com/office/drawing/2014/main" id="{FDD82B82-9C34-4CCA-8A05-3D72321EF9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LiveKit room + Silero VAD → Deepgram Nova-3 → GPT-4.1 mini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GPT-4.1 mini → 12 official mock tools → Cartesia Sonic-3 → spoken reply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Mock tools execute in threads; room IDs and timestamps tie calls to their recordings. The official backend and evaluator are unchanged.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LiveKit handles turn interruption. Each job owns session cleanup and a bounded drain after disconnect.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earlier custom state manager and duplicate-write ledger remain separate from this measured adapter.</a:t>
            </a:r>
          </a:p>
        </p:txBody>
      </p:sp>
    </p:spTree>
    <p:extLst>
      <p:ext uri="{BB962C8B-B14F-4D97-AF65-F5344CB8AC3E}">
        <p14:creationId xmlns:p14="http://schemas.microsoft.com/office/powerpoint/2010/main" val="11848979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Google Shape;119;p5">
            <a:extLst xmlns:a="http://schemas.openxmlformats.org/drawingml/2006/main">
              <a:ext uri="{FF2B5EF4-FFF2-40B4-BE49-F238E27FC236}">
                <a16:creationId xmlns:a16="http://schemas.microsoft.com/office/drawing/2014/main" id="{9F1FF2CE-9511-4385-8C4B-6E08D1FE3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>
            <a:extLst xmlns:a="http://schemas.openxmlformats.org/drawingml/2006/main">
              <a:ext uri="{FF2B5EF4-FFF2-40B4-BE49-F238E27FC236}">
                <a16:creationId xmlns:a16="http://schemas.microsoft.com/office/drawing/2014/main" id="{E457468E-32B3-4739-B211-480C2A86F9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Reproduction: python scripts/reproduce.py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recorded demo accompanies the presentation and shows the Interra agent workflow.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Extension worker: python -m agent.extension_livekit start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participant’s latest camera frame joins the next spoken turn. Older images and unsubscribed frames are discarded.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Demo: https://cursor.com/artifacts/v/art-65efdeb4-9b6f-4416-839a-875b82833f5a</a:t>
            </a:r>
          </a:p>
        </p:txBody>
      </p:sp>
    </p:spTree>
    <p:extLst>
      <p:ext uri="{BB962C8B-B14F-4D97-AF65-F5344CB8AC3E}">
        <p14:creationId xmlns:p14="http://schemas.microsoft.com/office/powerpoint/2010/main" val="3057614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DC0E512D-DA56-4B1C-9678-F6032F695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>
            <a:extLst xmlns:a="http://schemas.openxmlformats.org/drawingml/2006/main">
              <a:ext uri="{FF2B5EF4-FFF2-40B4-BE49-F238E27FC236}">
                <a16:creationId xmlns:a16="http://schemas.microsoft.com/office/drawing/2014/main" id="{66BD0B64-266C-440E-B21B-281A497538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extension is camera-assisted device troubleshooting, outside the benchmark domains.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person can correct the device or the symptom while the camera is on.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agent uses the latest frame together with the latest words, and asks for a closer view when the image is unclear.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It does not claim a repair is complete.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2000">
                <a:solidFill>
                  <a:srgbClr val="1F1F1F"/>
                </a:solidFill>
                <a:latin typeface="Calibri"/>
                <a:ea typeface="Calibri"/>
                <a:cs typeface="Calibri"/>
              </a:rPr>
              <a:t>The use case counts when a 3 to 5 minute video shows this session working, after a benchmark interruption.</a:t>
            </a:r>
          </a:p>
        </p:txBody>
      </p:sp>
    </p:spTree>
    <p:extLst>
      <p:ext uri="{BB962C8B-B14F-4D97-AF65-F5344CB8AC3E}">
        <p14:creationId xmlns:p14="http://schemas.microsoft.com/office/powerpoint/2010/main" val="1503125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538804F0-3CB6-47FB-AA80-319CEC1BB4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Measured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>
            <a:extLst xmlns:a="http://schemas.openxmlformats.org/drawingml/2006/main">
              <a:ext uri="{FF2B5EF4-FFF2-40B4-BE49-F238E27FC236}">
                <a16:creationId xmlns:a16="http://schemas.microsoft.com/office/drawing/2014/main" id="{02EC553D-8C51-48BC-B575-3FB4700AE4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Latest official evaluation (2026-10-04): 70/100 strict passes. 100/100 turn-takes. 0 silent recordings.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Tool selection accuracy: 93.4%. Argument accuracy: 76.3% across all 100 recordings.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Mean response latency: 4.452 seconds, excluding 3 early interruptions.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Failures: 13 wrong tools and 17 wrong arguments. After a provider credit outage, 29 recordings were re-recorded with the same code.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organizer LLM judge was disabled. This is an automated benchmark result, not a normalized overall hackathon score.</a:t>
            </a:r>
          </a:p>
        </p:txBody>
      </p:sp>
    </p:spTree>
    <p:extLst>
      <p:ext uri="{BB962C8B-B14F-4D97-AF65-F5344CB8AC3E}">
        <p14:creationId xmlns:p14="http://schemas.microsoft.com/office/powerpoint/2010/main" val="4678364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96A9082A-3BCE-40F3-9675-15E327BC3B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4400"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Completed benchmark and delivery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70BEFF52-BEFC-43D7-9A94-98E6FED8EF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Latest completed evaluation: 2026-10-04. Strict pass 70/100. Turn-take 100/100. No silent recordings.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All 100 final sessions completed cleanup and cooldown. All 152 tool calls completed, with no session errors.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Tool selection accuracy: 93.4%. Argument accuracy: 76.3%. Mean response latency: 4.452 seconds.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The repository includes official reports, all 100 recording results, traces and reproduction instructions.</a:t>
            </a:r>
          </a:p>
          <a:p xmlns:a="http://schemas.openxmlformats.org/drawingml/2006/main">
            <a:pPr marL="228600" lvl="0" indent="-228600" algn="l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Presentation and demo are ready. Submission tasks are complete per team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166421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Google Shape;155;p11">
            <a:extLst xmlns:a="http://schemas.openxmlformats.org/drawingml/2006/main">
              <a:ext uri="{FF2B5EF4-FFF2-40B4-BE49-F238E27FC236}">
                <a16:creationId xmlns:a16="http://schemas.microsoft.com/office/drawing/2014/main" id="{6735474A-3C97-4F1D-B0A4-54FB8202E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>
                <a:solidFill>
                  <a:srgbClr val="704EA6"/>
                </a:solidFill>
                <a:latin typeface="Calibri"/>
                <a:ea typeface="Calibri"/>
                <a:cs typeface="Calibri"/>
              </a:rPr>
              <a:t>Submission package</a:t>
            </a:r>
            <a:endParaRPr/>
          </a:p>
        </p:txBody>
      </p:sp>
      <p:sp>
        <p:nvSpPr>
          <p:cNvPr id="156" name="Google Shape;156;p11">
            <a:extLst xmlns:a="http://schemas.openxmlformats.org/drawingml/2006/main">
              <a:ext uri="{FF2B5EF4-FFF2-40B4-BE49-F238E27FC236}">
                <a16:creationId xmlns:a16="http://schemas.microsoft.com/office/drawing/2014/main" id="{3CB2F2E0-A239-4DD5-BE18-0FE70C570E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177800" lvl="0" indent="-177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Repository: https://github.com/Maitri-shah29/Interra</a:t>
            </a:r>
            <a:endParaRPr sz="2800"/>
          </a:p>
          <a:p xmlns:a="http://schemas.openxmlformats.org/drawingml/2006/main">
            <a:pPr marL="177800" lvl="0" indent="-177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README: install, configure and evaluate with python scripts/reproduce.py</a:t>
            </a:r>
            <a:endParaRPr sz="2800"/>
          </a:p>
          <a:p xmlns:a="http://schemas.openxmlformats.org/drawingml/2006/main">
            <a:pPr marL="177800" lvl="0" indent="-177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Evidence: docs/results/kaggle-20261004/ contains official reports, setup reports, traces, telemetry and all 100 result files.</a:t>
            </a:r>
            <a:endParaRPr sz="2800"/>
          </a:p>
          <a:p xmlns:a="http://schemas.openxmlformats.org/drawingml/2006/main">
            <a:pPr marL="177800" lvl="0" indent="-177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Presentation: the sole 8-slide deck matches the latest 70/100 strict-pass score.</a:t>
            </a:r>
            <a:endParaRPr sz="2800"/>
          </a:p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>
                <a:solidFill>
                  <a:srgbClr val="252525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Demo: https://cursor.com/artifacts/v/art-65efdeb4-9b6f-4416-839a-875b82833f5a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966671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2026-10-05T15:02:49.6450000Z</dcterms:created>
  <dcterms:modified xsi:type="dcterms:W3CDTF">2026-10-05T15:02:49.6450000Z</dcterms:modified>
</coreProperties>
</file>